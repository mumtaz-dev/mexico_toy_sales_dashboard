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2" r:id="rId6"/>
    <p:sldId id="283" r:id="rId7"/>
    <p:sldId id="287" r:id="rId8"/>
    <p:sldId id="284" r:id="rId9"/>
    <p:sldId id="288" r:id="rId10"/>
    <p:sldId id="289" r:id="rId11"/>
    <p:sldId id="2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3"/>
            <a:ext cx="3485073" cy="1836593"/>
          </a:xfrm>
        </p:spPr>
        <p:txBody>
          <a:bodyPr>
            <a:normAutofit/>
          </a:bodyPr>
          <a:lstStyle/>
          <a:p>
            <a:r>
              <a:rPr lang="en-US" sz="4000" dirty="0"/>
              <a:t>Mexico Toy Sales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3628103"/>
            <a:ext cx="3485072" cy="155637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dirty="0">
                <a:solidFill>
                  <a:srgbClr val="5792BA"/>
                </a:solidFill>
              </a:rPr>
              <a:t>Submitted by-</a:t>
            </a:r>
          </a:p>
          <a:p>
            <a:pPr algn="l"/>
            <a:r>
              <a:rPr lang="en-US" dirty="0" err="1">
                <a:solidFill>
                  <a:srgbClr val="5792BA"/>
                </a:solidFill>
              </a:rPr>
              <a:t>Aaqifa</a:t>
            </a:r>
            <a:r>
              <a:rPr lang="en-US" dirty="0">
                <a:solidFill>
                  <a:srgbClr val="5792BA"/>
                </a:solidFill>
              </a:rPr>
              <a:t> Taskeen</a:t>
            </a:r>
            <a:endParaRPr lang="en-US" sz="2300" dirty="0">
              <a:solidFill>
                <a:srgbClr val="5792BA"/>
              </a:solidFill>
            </a:endParaRPr>
          </a:p>
          <a:p>
            <a:pPr algn="l"/>
            <a:r>
              <a:rPr lang="en-US" dirty="0">
                <a:solidFill>
                  <a:srgbClr val="5792BA"/>
                </a:solidFill>
              </a:rPr>
              <a:t>Arfa Khanum</a:t>
            </a:r>
          </a:p>
          <a:p>
            <a:pPr algn="l"/>
            <a:r>
              <a:rPr lang="en-US" dirty="0">
                <a:solidFill>
                  <a:srgbClr val="5792BA"/>
                </a:solidFill>
              </a:rPr>
              <a:t>Mumtaz Parveen</a:t>
            </a:r>
          </a:p>
          <a:p>
            <a:pPr algn="l"/>
            <a:r>
              <a:rPr lang="en-US" sz="2300" dirty="0">
                <a:solidFill>
                  <a:srgbClr val="5792BA"/>
                </a:solidFill>
              </a:rPr>
              <a:t>Sarvath Yasmeen</a:t>
            </a: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6899-0F4C-87DB-2548-18CF69D0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90766-0939-22D9-7A14-FDD22AF1D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effectLst/>
              </a:rPr>
              <a:t>Which product categories drive the biggest profits? Is this the same across store locations?</a:t>
            </a:r>
          </a:p>
          <a:p>
            <a:pPr lvl="0"/>
            <a:r>
              <a:rPr lang="en-IN" dirty="0">
                <a:effectLst/>
              </a:rPr>
              <a:t>Can you find any seasonal trends or patterns in the sales data?</a:t>
            </a:r>
          </a:p>
          <a:p>
            <a:pPr lvl="0"/>
            <a:r>
              <a:rPr lang="en-IN" dirty="0">
                <a:effectLst/>
              </a:rPr>
              <a:t>Are we losing any sales with products being out of stock at certain locations?</a:t>
            </a:r>
          </a:p>
          <a:p>
            <a:pPr lvl="0"/>
            <a:r>
              <a:rPr lang="en-IN" dirty="0">
                <a:effectLst/>
              </a:rPr>
              <a:t>How much money is tied up in inventory at the toy stores? How long will it last?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288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6AF1A-54A3-5463-126E-DDBE2C13D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effectLst/>
              </a:rPr>
              <a:t>Q1. Which product categories drive the biggest profits? Is this the same across store locations?</a:t>
            </a:r>
            <a:br>
              <a:rPr lang="en-IN" sz="3200" b="1" dirty="0">
                <a:effectLst/>
              </a:rPr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BC897-5BAD-B024-19D0-45103CD35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0478"/>
            <a:ext cx="5398515" cy="4060722"/>
          </a:xfrm>
        </p:spPr>
        <p:txBody>
          <a:bodyPr/>
          <a:lstStyle/>
          <a:p>
            <a:pPr marL="36900" indent="0">
              <a:spcAft>
                <a:spcPts val="800"/>
              </a:spcAft>
              <a:buNone/>
              <a:defRPr sz="15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PART-1:</a:t>
            </a:r>
          </a:p>
          <a:p>
            <a:pPr>
              <a:spcAft>
                <a:spcPts val="800"/>
              </a:spcAft>
              <a:defRPr sz="15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Toys generated the highest total profit: $1,079,527 (26.89% of total profit).</a:t>
            </a:r>
          </a:p>
          <a:p>
            <a:pPr>
              <a:spcAft>
                <a:spcPts val="800"/>
              </a:spcAft>
              <a:defRPr sz="15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Electronics followed closely at $1,001,437 (24.95%).</a:t>
            </a:r>
          </a:p>
          <a:p>
            <a:pPr>
              <a:spcAft>
                <a:spcPts val="800"/>
              </a:spcAft>
              <a:defRPr sz="15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Toys + Electronics together contributed more than half of total profit.</a:t>
            </a:r>
          </a:p>
          <a:p>
            <a:pPr>
              <a:spcAft>
                <a:spcPts val="800"/>
              </a:spcAft>
              <a:defRPr sz="15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How solved: Profit = Units Sold × (Product Price − Product Cost), summed by category.</a:t>
            </a:r>
          </a:p>
          <a:p>
            <a:pPr marL="3690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27A58-4EF0-70AC-C179-5688E5A48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426" y="1866900"/>
            <a:ext cx="55626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4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D148-8C2D-D486-0C72-64B205C66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658761"/>
          </a:xfrm>
        </p:spPr>
        <p:txBody>
          <a:bodyPr/>
          <a:lstStyle/>
          <a:p>
            <a:r>
              <a:rPr lang="en-IN" dirty="0"/>
              <a:t>Q1. PART-2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346EE-4B47-1808-9E4B-3759C5225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1563329"/>
            <a:ext cx="4739753" cy="4126272"/>
          </a:xfrm>
        </p:spPr>
        <p:txBody>
          <a:bodyPr>
            <a:normAutofit/>
          </a:bodyPr>
          <a:lstStyle/>
          <a:p>
            <a:pPr algn="l"/>
            <a:r>
              <a:rPr lang="en-IN" sz="1800" dirty="0"/>
              <a:t>No, the top-selling category is not the same across all locations.</a:t>
            </a:r>
          </a:p>
          <a:p>
            <a:pPr algn="l"/>
            <a:r>
              <a:rPr lang="en-IN" sz="1800" dirty="0"/>
              <a:t>At the </a:t>
            </a:r>
            <a:r>
              <a:rPr lang="en-IN" sz="1800" b="1" dirty="0"/>
              <a:t>Airport</a:t>
            </a:r>
            <a:r>
              <a:rPr lang="en-IN" sz="1800" dirty="0"/>
              <a:t> and </a:t>
            </a:r>
            <a:r>
              <a:rPr lang="en-IN" sz="1800" b="1" dirty="0"/>
              <a:t>Commercial</a:t>
            </a:r>
            <a:r>
              <a:rPr lang="en-IN" sz="1800" dirty="0"/>
              <a:t> locations, </a:t>
            </a:r>
            <a:r>
              <a:rPr lang="en-IN" sz="1800" b="1" dirty="0"/>
              <a:t>Electronic products</a:t>
            </a:r>
            <a:r>
              <a:rPr lang="en-IN" sz="1800" dirty="0"/>
              <a:t> had the highest sales.</a:t>
            </a:r>
          </a:p>
          <a:p>
            <a:pPr algn="l"/>
            <a:r>
              <a:rPr lang="en-IN" sz="1800" dirty="0"/>
              <a:t>In contrast, at the </a:t>
            </a:r>
            <a:r>
              <a:rPr lang="en-IN" sz="1800" b="1" dirty="0"/>
              <a:t>Downtown</a:t>
            </a:r>
            <a:r>
              <a:rPr lang="en-IN" sz="1800" dirty="0"/>
              <a:t> and </a:t>
            </a:r>
            <a:r>
              <a:rPr lang="en-IN" sz="1800" b="1" dirty="0"/>
              <a:t>Residential</a:t>
            </a:r>
            <a:r>
              <a:rPr lang="en-IN" sz="1800" dirty="0"/>
              <a:t> locations, </a:t>
            </a:r>
            <a:r>
              <a:rPr lang="en-IN" sz="1800" b="1" dirty="0"/>
              <a:t>Toys</a:t>
            </a:r>
            <a:r>
              <a:rPr lang="en-IN" sz="1800" dirty="0"/>
              <a:t> had the highest sales.</a:t>
            </a:r>
          </a:p>
          <a:p>
            <a:pPr algn="l"/>
            <a:r>
              <a:rPr lang="en-US" sz="1800" dirty="0"/>
              <a:t>How solved: add Store Location as the comparison dimension and calculate Total Profit for every category-location combination</a:t>
            </a:r>
            <a:endParaRPr lang="en-IN" sz="1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53457AD-2E04-D87C-B575-66D889782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6333" y="3586212"/>
            <a:ext cx="4541914" cy="315800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19E72D-06DE-D3B6-B3F3-5E17C722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850" y="254006"/>
            <a:ext cx="4602879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6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B492-4D33-E975-77A4-10BD2BB5A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/>
              <a:t>Q2. </a:t>
            </a:r>
            <a:r>
              <a:rPr lang="en-IN" sz="3200" b="1" dirty="0">
                <a:effectLst/>
              </a:rPr>
              <a:t>Can you find any seasonal trends or patterns in the sales data?</a:t>
            </a:r>
            <a:br>
              <a:rPr lang="en-IN" sz="3200" b="1" dirty="0">
                <a:effectLst/>
              </a:rPr>
            </a:b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E401-281E-7F0F-FBCC-AD139F9D8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2076450"/>
            <a:ext cx="5448300" cy="3714749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2022: revenue dipped to about $489K in August, then climbed sharply into December.</a:t>
            </a:r>
          </a:p>
          <a:p>
            <a:pPr>
              <a:spcAft>
                <a:spcPts val="800"/>
              </a:spcAft>
              <a:defRPr sz="11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December 2022 was the highest month in the period shown, consistent with holiday demand.</a:t>
            </a:r>
          </a:p>
          <a:p>
            <a:pPr>
              <a:spcAft>
                <a:spcPts val="800"/>
              </a:spcAft>
              <a:defRPr sz="11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2023: March reached about $884K; revenue then softened toward September.</a:t>
            </a:r>
          </a:p>
          <a:p>
            <a:pPr>
              <a:spcAft>
                <a:spcPts val="800"/>
              </a:spcAft>
              <a:defRPr sz="11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2023 Oct–Dec are zero because the dataset ends in September 2023—not because demand disappeared</a:t>
            </a:r>
            <a:endParaRPr lang="en-IN"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137C6-BBFD-C8FB-E415-D6122DD05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726" y="2161868"/>
            <a:ext cx="544830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1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488A-65A8-D6AE-7026-A8CD987C9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99768"/>
            <a:ext cx="10353762" cy="1257300"/>
          </a:xfrm>
        </p:spPr>
        <p:txBody>
          <a:bodyPr>
            <a:noAutofit/>
          </a:bodyPr>
          <a:lstStyle/>
          <a:p>
            <a:r>
              <a:rPr lang="en-IN" sz="3200" dirty="0"/>
              <a:t>Q3. </a:t>
            </a:r>
            <a:r>
              <a:rPr lang="en-IN" sz="3200" dirty="0">
                <a:effectLst/>
              </a:rPr>
              <a:t>Are we losing any sales with products being out of stock at certain locations?</a:t>
            </a:r>
            <a:br>
              <a:rPr lang="en-IN" sz="3200" dirty="0">
                <a:effectLst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8E98A-EAFE-E3A3-1EE0-20F84CF3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202" y="2076450"/>
            <a:ext cx="5044554" cy="3980221"/>
          </a:xfrm>
        </p:spPr>
        <p:txBody>
          <a:bodyPr/>
          <a:lstStyle/>
          <a:p>
            <a:r>
              <a:rPr lang="en-US" dirty="0"/>
              <a:t>Yes. Every store-location type shows a gap between potential and actual revenue</a:t>
            </a:r>
          </a:p>
          <a:p>
            <a:r>
              <a:rPr lang="en-US" dirty="0"/>
              <a:t>How solved: compare revenue associated with available stock (&gt;0) against revenue associated with unavailable/zero stock; lost revenue = potential − actual.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95B9B-F06C-0E9E-1458-2F8B9C474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951" y="2076450"/>
            <a:ext cx="6097149" cy="418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2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FDD05-80BF-CCC1-6A62-2AB12A2AD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1920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Q4. </a:t>
            </a:r>
            <a:r>
              <a:rPr lang="en-IN" sz="3600" dirty="0">
                <a:effectLst/>
              </a:rPr>
              <a:t>How much money is tied up in inventory at the toy stores? How long will it last?</a:t>
            </a:r>
            <a:br>
              <a:rPr lang="en-IN" sz="480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9137-97D2-9CF9-467F-96D22C55F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79" y="1990149"/>
            <a:ext cx="5536166" cy="3714749"/>
          </a:xfrm>
        </p:spPr>
        <p:txBody>
          <a:bodyPr/>
          <a:lstStyle/>
          <a:p>
            <a:r>
              <a:rPr lang="en-US" sz="1800" dirty="0"/>
              <a:t>Inventory is valued at product cost, then compared with average daily unit sales.</a:t>
            </a:r>
          </a:p>
          <a:p>
            <a:r>
              <a:rPr lang="en-IN" sz="1800" dirty="0"/>
              <a:t>$300,210K is tied up in the inventory.</a:t>
            </a:r>
          </a:p>
          <a:p>
            <a:r>
              <a:rPr lang="en-IN" sz="1800" dirty="0"/>
              <a:t>It will last for approximately 2.5 weeks.</a:t>
            </a:r>
          </a:p>
          <a:p>
            <a:pPr>
              <a:spcAft>
                <a:spcPts val="800"/>
              </a:spcAft>
              <a:defRPr sz="17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Inventory value = Σ(Stock on Hand × Product Cost).</a:t>
            </a:r>
          </a:p>
          <a:p>
            <a:pPr>
              <a:spcAft>
                <a:spcPts val="800"/>
              </a:spcAft>
              <a:defRPr sz="1700">
                <a:solidFill>
                  <a:srgbClr val="1B2741"/>
                </a:solidFill>
              </a:defRPr>
            </a:pPr>
            <a:r>
              <a:rPr lang="en-US" sz="1800" dirty="0">
                <a:solidFill>
                  <a:schemeClr val="tx1"/>
                </a:solidFill>
              </a:rPr>
              <a:t>Coverage = Total Stock on Hand ÷ Average Units Sold per Day.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8FF093-EF94-B618-1FEA-05CE0EAE4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157" y="1990149"/>
            <a:ext cx="5706108" cy="287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3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49113-4E8C-5289-7979-5B1FEAC9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CC0A7-153F-8982-9364-5D0D05924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672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{767D5CFF-AB33-4C08-833F-3F608798D161}TF44c8ba04-08d0-4be5-99b0-3ee2a8f0f11401c8fd43_win32-463ac1ec4738</Template>
  <TotalTime>151</TotalTime>
  <Words>442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Nova</vt:lpstr>
      <vt:lpstr>Arial Nova Light</vt:lpstr>
      <vt:lpstr>Wingdings 2</vt:lpstr>
      <vt:lpstr>SlateVTI</vt:lpstr>
      <vt:lpstr>Mexico Toy Sales Data Analysis</vt:lpstr>
      <vt:lpstr>Required Analysis</vt:lpstr>
      <vt:lpstr>Q1. Which product categories drive the biggest profits? Is this the same across store locations? </vt:lpstr>
      <vt:lpstr>Q1. PART-2 </vt:lpstr>
      <vt:lpstr>Q2. Can you find any seasonal trends or patterns in the sales data? </vt:lpstr>
      <vt:lpstr>Q3. Are we losing any sales with products being out of stock at certain locations? </vt:lpstr>
      <vt:lpstr>Q4. How much money is tied up in inventory at the toy stores? How long will it last?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Mumtaz Parveen</dc:creator>
  <cp:lastModifiedBy>Mumtaz Parveen</cp:lastModifiedBy>
  <cp:revision>1</cp:revision>
  <dcterms:created xsi:type="dcterms:W3CDTF">2026-09-07T18:55:53Z</dcterms:created>
  <dcterms:modified xsi:type="dcterms:W3CDTF">2026-09-07T21:27:26Z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